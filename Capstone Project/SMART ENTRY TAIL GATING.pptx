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9" r:id="rId5"/>
    <p:sldId id="270" r:id="rId6"/>
    <p:sldId id="269" r:id="rId7"/>
    <p:sldId id="264" r:id="rId8"/>
    <p:sldId id="265" r:id="rId9"/>
    <p:sldId id="266" r:id="rId10"/>
    <p:sldId id="267" r:id="rId11"/>
    <p:sldId id="271" r:id="rId12"/>
    <p:sldId id="260" r:id="rId13"/>
    <p:sldId id="261" r:id="rId14"/>
    <p:sldId id="25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A1A09-F849-EC1F-861F-9CF3583DCA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6AA1715-7EFE-33F3-E6EB-15B75FEE6B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3ED91D-B8B3-5F3D-EC81-28F49AE83417}"/>
              </a:ext>
            </a:extLst>
          </p:cNvPr>
          <p:cNvSpPr>
            <a:spLocks noGrp="1"/>
          </p:cNvSpPr>
          <p:nvPr>
            <p:ph type="dt" sz="half" idx="10"/>
          </p:nvPr>
        </p:nvSpPr>
        <p:spPr/>
        <p:txBody>
          <a:bodyPr/>
          <a:lstStyle/>
          <a:p>
            <a:fld id="{92308954-4C1F-453A-A04A-06F0E326E1AE}" type="datetimeFigureOut">
              <a:rPr lang="en-IN" smtClean="0"/>
              <a:t>24-03-2026</a:t>
            </a:fld>
            <a:endParaRPr lang="en-IN"/>
          </a:p>
        </p:txBody>
      </p:sp>
      <p:sp>
        <p:nvSpPr>
          <p:cNvPr id="5" name="Footer Placeholder 4">
            <a:extLst>
              <a:ext uri="{FF2B5EF4-FFF2-40B4-BE49-F238E27FC236}">
                <a16:creationId xmlns:a16="http://schemas.microsoft.com/office/drawing/2014/main" id="{F03E5696-C6C9-5638-39D9-D5450BE5CB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6A0C02-41D5-D40C-42C0-490926AA7AFC}"/>
              </a:ext>
            </a:extLst>
          </p:cNvPr>
          <p:cNvSpPr>
            <a:spLocks noGrp="1"/>
          </p:cNvSpPr>
          <p:nvPr>
            <p:ph type="sldNum" sz="quarter" idx="12"/>
          </p:nvPr>
        </p:nvSpPr>
        <p:spPr/>
        <p:txBody>
          <a:bodyPr/>
          <a:lstStyle/>
          <a:p>
            <a:fld id="{530107E8-3A57-4925-A82B-A6AFAB73B394}" type="slidenum">
              <a:rPr lang="en-IN" smtClean="0"/>
              <a:t>‹#›</a:t>
            </a:fld>
            <a:endParaRPr lang="en-IN"/>
          </a:p>
        </p:txBody>
      </p:sp>
    </p:spTree>
    <p:extLst>
      <p:ext uri="{BB962C8B-B14F-4D97-AF65-F5344CB8AC3E}">
        <p14:creationId xmlns:p14="http://schemas.microsoft.com/office/powerpoint/2010/main" val="1572741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981DA-92AD-4968-20FF-7416FD35F8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70E662-84B2-1D38-C2B4-171DB24E98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5E4D52-B23F-9F22-E3CF-1FB3AD1F9A72}"/>
              </a:ext>
            </a:extLst>
          </p:cNvPr>
          <p:cNvSpPr>
            <a:spLocks noGrp="1"/>
          </p:cNvSpPr>
          <p:nvPr>
            <p:ph type="dt" sz="half" idx="10"/>
          </p:nvPr>
        </p:nvSpPr>
        <p:spPr/>
        <p:txBody>
          <a:bodyPr/>
          <a:lstStyle/>
          <a:p>
            <a:fld id="{92308954-4C1F-453A-A04A-06F0E326E1AE}" type="datetimeFigureOut">
              <a:rPr lang="en-IN" smtClean="0"/>
              <a:t>24-03-2026</a:t>
            </a:fld>
            <a:endParaRPr lang="en-IN"/>
          </a:p>
        </p:txBody>
      </p:sp>
      <p:sp>
        <p:nvSpPr>
          <p:cNvPr id="5" name="Footer Placeholder 4">
            <a:extLst>
              <a:ext uri="{FF2B5EF4-FFF2-40B4-BE49-F238E27FC236}">
                <a16:creationId xmlns:a16="http://schemas.microsoft.com/office/drawing/2014/main" id="{7FDB0FA7-D243-F9E1-2181-F1F6A84EFB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44396F-3297-1130-7229-1AC104B65082}"/>
              </a:ext>
            </a:extLst>
          </p:cNvPr>
          <p:cNvSpPr>
            <a:spLocks noGrp="1"/>
          </p:cNvSpPr>
          <p:nvPr>
            <p:ph type="sldNum" sz="quarter" idx="12"/>
          </p:nvPr>
        </p:nvSpPr>
        <p:spPr/>
        <p:txBody>
          <a:bodyPr/>
          <a:lstStyle/>
          <a:p>
            <a:fld id="{530107E8-3A57-4925-A82B-A6AFAB73B394}" type="slidenum">
              <a:rPr lang="en-IN" smtClean="0"/>
              <a:t>‹#›</a:t>
            </a:fld>
            <a:endParaRPr lang="en-IN"/>
          </a:p>
        </p:txBody>
      </p:sp>
    </p:spTree>
    <p:extLst>
      <p:ext uri="{BB962C8B-B14F-4D97-AF65-F5344CB8AC3E}">
        <p14:creationId xmlns:p14="http://schemas.microsoft.com/office/powerpoint/2010/main" val="1465964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5B7D-B424-6A64-E2E3-66C5835401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A1498C-9FD8-6C5F-C1A9-1ABAF70F03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748D9E-19B9-5373-FE51-5724697D3A38}"/>
              </a:ext>
            </a:extLst>
          </p:cNvPr>
          <p:cNvSpPr>
            <a:spLocks noGrp="1"/>
          </p:cNvSpPr>
          <p:nvPr>
            <p:ph type="dt" sz="half" idx="10"/>
          </p:nvPr>
        </p:nvSpPr>
        <p:spPr/>
        <p:txBody>
          <a:bodyPr/>
          <a:lstStyle/>
          <a:p>
            <a:fld id="{92308954-4C1F-453A-A04A-06F0E326E1AE}" type="datetimeFigureOut">
              <a:rPr lang="en-IN" smtClean="0"/>
              <a:t>24-03-2026</a:t>
            </a:fld>
            <a:endParaRPr lang="en-IN"/>
          </a:p>
        </p:txBody>
      </p:sp>
      <p:sp>
        <p:nvSpPr>
          <p:cNvPr id="5" name="Footer Placeholder 4">
            <a:extLst>
              <a:ext uri="{FF2B5EF4-FFF2-40B4-BE49-F238E27FC236}">
                <a16:creationId xmlns:a16="http://schemas.microsoft.com/office/drawing/2014/main" id="{3DC5964B-2AE0-512B-5771-A3A14A1734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072919-BDBE-AD61-AB15-57CC90B29B32}"/>
              </a:ext>
            </a:extLst>
          </p:cNvPr>
          <p:cNvSpPr>
            <a:spLocks noGrp="1"/>
          </p:cNvSpPr>
          <p:nvPr>
            <p:ph type="sldNum" sz="quarter" idx="12"/>
          </p:nvPr>
        </p:nvSpPr>
        <p:spPr/>
        <p:txBody>
          <a:bodyPr/>
          <a:lstStyle/>
          <a:p>
            <a:fld id="{530107E8-3A57-4925-A82B-A6AFAB73B394}" type="slidenum">
              <a:rPr lang="en-IN" smtClean="0"/>
              <a:t>‹#›</a:t>
            </a:fld>
            <a:endParaRPr lang="en-IN"/>
          </a:p>
        </p:txBody>
      </p:sp>
    </p:spTree>
    <p:extLst>
      <p:ext uri="{BB962C8B-B14F-4D97-AF65-F5344CB8AC3E}">
        <p14:creationId xmlns:p14="http://schemas.microsoft.com/office/powerpoint/2010/main" val="861594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3CC56-823C-25D1-C9E3-2CF3381D82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80CE6A-F762-B152-6B73-36BDB2ED74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A424B7-C674-E737-A714-F1689D11F7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92C4AEB-A191-F68C-05BE-06F30E6374A9}"/>
              </a:ext>
            </a:extLst>
          </p:cNvPr>
          <p:cNvSpPr>
            <a:spLocks noGrp="1"/>
          </p:cNvSpPr>
          <p:nvPr>
            <p:ph type="dt" sz="half" idx="10"/>
          </p:nvPr>
        </p:nvSpPr>
        <p:spPr/>
        <p:txBody>
          <a:bodyPr/>
          <a:lstStyle/>
          <a:p>
            <a:fld id="{92308954-4C1F-453A-A04A-06F0E326E1AE}" type="datetimeFigureOut">
              <a:rPr lang="en-IN" smtClean="0"/>
              <a:t>24-03-2026</a:t>
            </a:fld>
            <a:endParaRPr lang="en-IN"/>
          </a:p>
        </p:txBody>
      </p:sp>
      <p:sp>
        <p:nvSpPr>
          <p:cNvPr id="6" name="Footer Placeholder 5">
            <a:extLst>
              <a:ext uri="{FF2B5EF4-FFF2-40B4-BE49-F238E27FC236}">
                <a16:creationId xmlns:a16="http://schemas.microsoft.com/office/drawing/2014/main" id="{88030DB8-640B-56B7-7E25-3A67786C3F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FD3A92-5D86-7602-7E7D-DCA3629C0343}"/>
              </a:ext>
            </a:extLst>
          </p:cNvPr>
          <p:cNvSpPr>
            <a:spLocks noGrp="1"/>
          </p:cNvSpPr>
          <p:nvPr>
            <p:ph type="sldNum" sz="quarter" idx="12"/>
          </p:nvPr>
        </p:nvSpPr>
        <p:spPr/>
        <p:txBody>
          <a:bodyPr/>
          <a:lstStyle/>
          <a:p>
            <a:fld id="{530107E8-3A57-4925-A82B-A6AFAB73B394}" type="slidenum">
              <a:rPr lang="en-IN" smtClean="0"/>
              <a:t>‹#›</a:t>
            </a:fld>
            <a:endParaRPr lang="en-IN"/>
          </a:p>
        </p:txBody>
      </p:sp>
    </p:spTree>
    <p:extLst>
      <p:ext uri="{BB962C8B-B14F-4D97-AF65-F5344CB8AC3E}">
        <p14:creationId xmlns:p14="http://schemas.microsoft.com/office/powerpoint/2010/main" val="2787090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368BA-A5AC-A6EE-C406-3A15F0A9551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A2FF3C-B49B-7528-8151-A72A1F9911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DA148F-F5FC-2B2E-ECF9-20670325F3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AFDEAD-CDEB-7EDC-871E-E53C3E8252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D7F84E-5175-39A3-6235-788583E27F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54C829B-EB2D-D86D-2915-7ABC7C1C5574}"/>
              </a:ext>
            </a:extLst>
          </p:cNvPr>
          <p:cNvSpPr>
            <a:spLocks noGrp="1"/>
          </p:cNvSpPr>
          <p:nvPr>
            <p:ph type="dt" sz="half" idx="10"/>
          </p:nvPr>
        </p:nvSpPr>
        <p:spPr/>
        <p:txBody>
          <a:bodyPr/>
          <a:lstStyle/>
          <a:p>
            <a:fld id="{92308954-4C1F-453A-A04A-06F0E326E1AE}" type="datetimeFigureOut">
              <a:rPr lang="en-IN" smtClean="0"/>
              <a:t>24-03-2026</a:t>
            </a:fld>
            <a:endParaRPr lang="en-IN"/>
          </a:p>
        </p:txBody>
      </p:sp>
      <p:sp>
        <p:nvSpPr>
          <p:cNvPr id="8" name="Footer Placeholder 7">
            <a:extLst>
              <a:ext uri="{FF2B5EF4-FFF2-40B4-BE49-F238E27FC236}">
                <a16:creationId xmlns:a16="http://schemas.microsoft.com/office/drawing/2014/main" id="{C429ACBC-D792-6FF1-95D1-78BC2DFE38A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BFC1D92-4471-84AD-CC1B-1ECCC989047F}"/>
              </a:ext>
            </a:extLst>
          </p:cNvPr>
          <p:cNvSpPr>
            <a:spLocks noGrp="1"/>
          </p:cNvSpPr>
          <p:nvPr>
            <p:ph type="sldNum" sz="quarter" idx="12"/>
          </p:nvPr>
        </p:nvSpPr>
        <p:spPr/>
        <p:txBody>
          <a:bodyPr/>
          <a:lstStyle/>
          <a:p>
            <a:fld id="{530107E8-3A57-4925-A82B-A6AFAB73B394}" type="slidenum">
              <a:rPr lang="en-IN" smtClean="0"/>
              <a:t>‹#›</a:t>
            </a:fld>
            <a:endParaRPr lang="en-IN"/>
          </a:p>
        </p:txBody>
      </p:sp>
    </p:spTree>
    <p:extLst>
      <p:ext uri="{BB962C8B-B14F-4D97-AF65-F5344CB8AC3E}">
        <p14:creationId xmlns:p14="http://schemas.microsoft.com/office/powerpoint/2010/main" val="3916149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5B36C-9EC8-F6F6-E618-D8C54AC67B4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F641024-121F-D113-F3BD-F135CAB3D14B}"/>
              </a:ext>
            </a:extLst>
          </p:cNvPr>
          <p:cNvSpPr>
            <a:spLocks noGrp="1"/>
          </p:cNvSpPr>
          <p:nvPr>
            <p:ph type="dt" sz="half" idx="10"/>
          </p:nvPr>
        </p:nvSpPr>
        <p:spPr/>
        <p:txBody>
          <a:bodyPr/>
          <a:lstStyle/>
          <a:p>
            <a:fld id="{92308954-4C1F-453A-A04A-06F0E326E1AE}" type="datetimeFigureOut">
              <a:rPr lang="en-IN" smtClean="0"/>
              <a:t>24-03-2026</a:t>
            </a:fld>
            <a:endParaRPr lang="en-IN"/>
          </a:p>
        </p:txBody>
      </p:sp>
      <p:sp>
        <p:nvSpPr>
          <p:cNvPr id="4" name="Footer Placeholder 3">
            <a:extLst>
              <a:ext uri="{FF2B5EF4-FFF2-40B4-BE49-F238E27FC236}">
                <a16:creationId xmlns:a16="http://schemas.microsoft.com/office/drawing/2014/main" id="{F8F4066B-534C-0C82-39AC-59865300B74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96AF654-826B-2C53-6F6F-0DF53D6B6439}"/>
              </a:ext>
            </a:extLst>
          </p:cNvPr>
          <p:cNvSpPr>
            <a:spLocks noGrp="1"/>
          </p:cNvSpPr>
          <p:nvPr>
            <p:ph type="sldNum" sz="quarter" idx="12"/>
          </p:nvPr>
        </p:nvSpPr>
        <p:spPr/>
        <p:txBody>
          <a:bodyPr/>
          <a:lstStyle/>
          <a:p>
            <a:fld id="{530107E8-3A57-4925-A82B-A6AFAB73B394}" type="slidenum">
              <a:rPr lang="en-IN" smtClean="0"/>
              <a:t>‹#›</a:t>
            </a:fld>
            <a:endParaRPr lang="en-IN"/>
          </a:p>
        </p:txBody>
      </p:sp>
    </p:spTree>
    <p:extLst>
      <p:ext uri="{BB962C8B-B14F-4D97-AF65-F5344CB8AC3E}">
        <p14:creationId xmlns:p14="http://schemas.microsoft.com/office/powerpoint/2010/main" val="3353743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535334-D97F-5054-1223-01C032FEB9A9}"/>
              </a:ext>
            </a:extLst>
          </p:cNvPr>
          <p:cNvSpPr>
            <a:spLocks noGrp="1"/>
          </p:cNvSpPr>
          <p:nvPr>
            <p:ph type="dt" sz="half" idx="10"/>
          </p:nvPr>
        </p:nvSpPr>
        <p:spPr/>
        <p:txBody>
          <a:bodyPr/>
          <a:lstStyle/>
          <a:p>
            <a:fld id="{92308954-4C1F-453A-A04A-06F0E326E1AE}" type="datetimeFigureOut">
              <a:rPr lang="en-IN" smtClean="0"/>
              <a:t>24-03-2026</a:t>
            </a:fld>
            <a:endParaRPr lang="en-IN"/>
          </a:p>
        </p:txBody>
      </p:sp>
      <p:sp>
        <p:nvSpPr>
          <p:cNvPr id="3" name="Footer Placeholder 2">
            <a:extLst>
              <a:ext uri="{FF2B5EF4-FFF2-40B4-BE49-F238E27FC236}">
                <a16:creationId xmlns:a16="http://schemas.microsoft.com/office/drawing/2014/main" id="{93E405B7-8E1A-3755-4B57-3D9BFB6CFAD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5E112B9-EAF9-A0B3-0862-FC9F6EFDBB79}"/>
              </a:ext>
            </a:extLst>
          </p:cNvPr>
          <p:cNvSpPr>
            <a:spLocks noGrp="1"/>
          </p:cNvSpPr>
          <p:nvPr>
            <p:ph type="sldNum" sz="quarter" idx="12"/>
          </p:nvPr>
        </p:nvSpPr>
        <p:spPr/>
        <p:txBody>
          <a:bodyPr/>
          <a:lstStyle/>
          <a:p>
            <a:fld id="{530107E8-3A57-4925-A82B-A6AFAB73B394}" type="slidenum">
              <a:rPr lang="en-IN" smtClean="0"/>
              <a:t>‹#›</a:t>
            </a:fld>
            <a:endParaRPr lang="en-IN"/>
          </a:p>
        </p:txBody>
      </p:sp>
    </p:spTree>
    <p:extLst>
      <p:ext uri="{BB962C8B-B14F-4D97-AF65-F5344CB8AC3E}">
        <p14:creationId xmlns:p14="http://schemas.microsoft.com/office/powerpoint/2010/main" val="2546488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AE37E-D32B-7411-9267-29FC72CA70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83716BF-4780-1443-4E6F-CBC4393C1F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19A85F7-C4A6-786A-176C-0CC4D0A710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EBFF2A-246F-7767-E6E0-C6AA79C7A92F}"/>
              </a:ext>
            </a:extLst>
          </p:cNvPr>
          <p:cNvSpPr>
            <a:spLocks noGrp="1"/>
          </p:cNvSpPr>
          <p:nvPr>
            <p:ph type="dt" sz="half" idx="10"/>
          </p:nvPr>
        </p:nvSpPr>
        <p:spPr/>
        <p:txBody>
          <a:bodyPr/>
          <a:lstStyle/>
          <a:p>
            <a:fld id="{92308954-4C1F-453A-A04A-06F0E326E1AE}" type="datetimeFigureOut">
              <a:rPr lang="en-IN" smtClean="0"/>
              <a:t>24-03-2026</a:t>
            </a:fld>
            <a:endParaRPr lang="en-IN"/>
          </a:p>
        </p:txBody>
      </p:sp>
      <p:sp>
        <p:nvSpPr>
          <p:cNvPr id="6" name="Footer Placeholder 5">
            <a:extLst>
              <a:ext uri="{FF2B5EF4-FFF2-40B4-BE49-F238E27FC236}">
                <a16:creationId xmlns:a16="http://schemas.microsoft.com/office/drawing/2014/main" id="{CA7A5D4B-B757-BE7D-6263-88DA9EE39A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885914-B5B1-5790-A27A-80EC3048342A}"/>
              </a:ext>
            </a:extLst>
          </p:cNvPr>
          <p:cNvSpPr>
            <a:spLocks noGrp="1"/>
          </p:cNvSpPr>
          <p:nvPr>
            <p:ph type="sldNum" sz="quarter" idx="12"/>
          </p:nvPr>
        </p:nvSpPr>
        <p:spPr/>
        <p:txBody>
          <a:bodyPr/>
          <a:lstStyle/>
          <a:p>
            <a:fld id="{530107E8-3A57-4925-A82B-A6AFAB73B394}" type="slidenum">
              <a:rPr lang="en-IN" smtClean="0"/>
              <a:t>‹#›</a:t>
            </a:fld>
            <a:endParaRPr lang="en-IN"/>
          </a:p>
        </p:txBody>
      </p:sp>
    </p:spTree>
    <p:extLst>
      <p:ext uri="{BB962C8B-B14F-4D97-AF65-F5344CB8AC3E}">
        <p14:creationId xmlns:p14="http://schemas.microsoft.com/office/powerpoint/2010/main" val="3143984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ACD71-88E6-66CD-2E90-D394ACB497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0B20FA8-4972-D9AA-E885-DD2F9CE329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3C643A9-84B6-E30F-D36F-4D45FEC73D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8421FD-ED31-955F-2F50-365C9A63B571}"/>
              </a:ext>
            </a:extLst>
          </p:cNvPr>
          <p:cNvSpPr>
            <a:spLocks noGrp="1"/>
          </p:cNvSpPr>
          <p:nvPr>
            <p:ph type="dt" sz="half" idx="10"/>
          </p:nvPr>
        </p:nvSpPr>
        <p:spPr/>
        <p:txBody>
          <a:bodyPr/>
          <a:lstStyle/>
          <a:p>
            <a:fld id="{92308954-4C1F-453A-A04A-06F0E326E1AE}" type="datetimeFigureOut">
              <a:rPr lang="en-IN" smtClean="0"/>
              <a:t>24-03-2026</a:t>
            </a:fld>
            <a:endParaRPr lang="en-IN"/>
          </a:p>
        </p:txBody>
      </p:sp>
      <p:sp>
        <p:nvSpPr>
          <p:cNvPr id="6" name="Footer Placeholder 5">
            <a:extLst>
              <a:ext uri="{FF2B5EF4-FFF2-40B4-BE49-F238E27FC236}">
                <a16:creationId xmlns:a16="http://schemas.microsoft.com/office/drawing/2014/main" id="{79D44136-0850-7DC0-82ED-4A82293B39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8A578B-295B-F584-34D5-84607CF1BF62}"/>
              </a:ext>
            </a:extLst>
          </p:cNvPr>
          <p:cNvSpPr>
            <a:spLocks noGrp="1"/>
          </p:cNvSpPr>
          <p:nvPr>
            <p:ph type="sldNum" sz="quarter" idx="12"/>
          </p:nvPr>
        </p:nvSpPr>
        <p:spPr/>
        <p:txBody>
          <a:bodyPr/>
          <a:lstStyle/>
          <a:p>
            <a:fld id="{530107E8-3A57-4925-A82B-A6AFAB73B394}" type="slidenum">
              <a:rPr lang="en-IN" smtClean="0"/>
              <a:t>‹#›</a:t>
            </a:fld>
            <a:endParaRPr lang="en-IN"/>
          </a:p>
        </p:txBody>
      </p:sp>
    </p:spTree>
    <p:extLst>
      <p:ext uri="{BB962C8B-B14F-4D97-AF65-F5344CB8AC3E}">
        <p14:creationId xmlns:p14="http://schemas.microsoft.com/office/powerpoint/2010/main" val="1448430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4E274-70B1-37EF-C1F2-35B69A221F1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0518CA-1D4B-81B5-BB7A-752FB87A9A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1416B5-33C1-9287-657E-00AD0F8CA6EF}"/>
              </a:ext>
            </a:extLst>
          </p:cNvPr>
          <p:cNvSpPr>
            <a:spLocks noGrp="1"/>
          </p:cNvSpPr>
          <p:nvPr>
            <p:ph type="dt" sz="half" idx="10"/>
          </p:nvPr>
        </p:nvSpPr>
        <p:spPr/>
        <p:txBody>
          <a:bodyPr/>
          <a:lstStyle/>
          <a:p>
            <a:fld id="{92308954-4C1F-453A-A04A-06F0E326E1AE}" type="datetimeFigureOut">
              <a:rPr lang="en-IN" smtClean="0"/>
              <a:t>24-03-2026</a:t>
            </a:fld>
            <a:endParaRPr lang="en-IN"/>
          </a:p>
        </p:txBody>
      </p:sp>
      <p:sp>
        <p:nvSpPr>
          <p:cNvPr id="5" name="Footer Placeholder 4">
            <a:extLst>
              <a:ext uri="{FF2B5EF4-FFF2-40B4-BE49-F238E27FC236}">
                <a16:creationId xmlns:a16="http://schemas.microsoft.com/office/drawing/2014/main" id="{FFE50C23-ED40-6332-3078-462E94FD6E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EFF75C-409E-F5B0-5A55-641A0A2E41A2}"/>
              </a:ext>
            </a:extLst>
          </p:cNvPr>
          <p:cNvSpPr>
            <a:spLocks noGrp="1"/>
          </p:cNvSpPr>
          <p:nvPr>
            <p:ph type="sldNum" sz="quarter" idx="12"/>
          </p:nvPr>
        </p:nvSpPr>
        <p:spPr/>
        <p:txBody>
          <a:bodyPr/>
          <a:lstStyle/>
          <a:p>
            <a:fld id="{530107E8-3A57-4925-A82B-A6AFAB73B394}" type="slidenum">
              <a:rPr lang="en-IN" smtClean="0"/>
              <a:t>‹#›</a:t>
            </a:fld>
            <a:endParaRPr lang="en-IN"/>
          </a:p>
        </p:txBody>
      </p:sp>
    </p:spTree>
    <p:extLst>
      <p:ext uri="{BB962C8B-B14F-4D97-AF65-F5344CB8AC3E}">
        <p14:creationId xmlns:p14="http://schemas.microsoft.com/office/powerpoint/2010/main" val="3704154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DF49DC-74F4-9131-8693-C34A89CE5F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E3C677-EA2F-A75A-6ABC-CA2F8C18CF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1E83AD-3FBB-49BE-B16C-438DA0372498}"/>
              </a:ext>
            </a:extLst>
          </p:cNvPr>
          <p:cNvSpPr>
            <a:spLocks noGrp="1"/>
          </p:cNvSpPr>
          <p:nvPr>
            <p:ph type="dt" sz="half" idx="10"/>
          </p:nvPr>
        </p:nvSpPr>
        <p:spPr/>
        <p:txBody>
          <a:bodyPr/>
          <a:lstStyle/>
          <a:p>
            <a:fld id="{92308954-4C1F-453A-A04A-06F0E326E1AE}" type="datetimeFigureOut">
              <a:rPr lang="en-IN" smtClean="0"/>
              <a:t>24-03-2026</a:t>
            </a:fld>
            <a:endParaRPr lang="en-IN"/>
          </a:p>
        </p:txBody>
      </p:sp>
      <p:sp>
        <p:nvSpPr>
          <p:cNvPr id="5" name="Footer Placeholder 4">
            <a:extLst>
              <a:ext uri="{FF2B5EF4-FFF2-40B4-BE49-F238E27FC236}">
                <a16:creationId xmlns:a16="http://schemas.microsoft.com/office/drawing/2014/main" id="{36308F20-41EE-F174-15CE-04FE52ECC0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AA8E85-7624-A77F-8100-A8BBA05D148A}"/>
              </a:ext>
            </a:extLst>
          </p:cNvPr>
          <p:cNvSpPr>
            <a:spLocks noGrp="1"/>
          </p:cNvSpPr>
          <p:nvPr>
            <p:ph type="sldNum" sz="quarter" idx="12"/>
          </p:nvPr>
        </p:nvSpPr>
        <p:spPr/>
        <p:txBody>
          <a:bodyPr/>
          <a:lstStyle/>
          <a:p>
            <a:fld id="{530107E8-3A57-4925-A82B-A6AFAB73B394}" type="slidenum">
              <a:rPr lang="en-IN" smtClean="0"/>
              <a:t>‹#›</a:t>
            </a:fld>
            <a:endParaRPr lang="en-IN"/>
          </a:p>
        </p:txBody>
      </p:sp>
    </p:spTree>
    <p:extLst>
      <p:ext uri="{BB962C8B-B14F-4D97-AF65-F5344CB8AC3E}">
        <p14:creationId xmlns:p14="http://schemas.microsoft.com/office/powerpoint/2010/main" val="3191937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42162E-FB16-8D6B-DD5E-882C0F8692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11FC19-F52F-9679-B869-E662F142A3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E1085E-0200-5BCE-5006-25265D7058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308954-4C1F-453A-A04A-06F0E326E1AE}" type="datetimeFigureOut">
              <a:rPr lang="en-IN" smtClean="0"/>
              <a:t>24-03-2026</a:t>
            </a:fld>
            <a:endParaRPr lang="en-IN"/>
          </a:p>
        </p:txBody>
      </p:sp>
      <p:sp>
        <p:nvSpPr>
          <p:cNvPr id="5" name="Footer Placeholder 4">
            <a:extLst>
              <a:ext uri="{FF2B5EF4-FFF2-40B4-BE49-F238E27FC236}">
                <a16:creationId xmlns:a16="http://schemas.microsoft.com/office/drawing/2014/main" id="{F99A8A9D-547A-EFD3-CA1E-64003EEEBD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707ADA2-C11F-A68C-B5E9-D5E66C75B7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0107E8-3A57-4925-A82B-A6AFAB73B394}" type="slidenum">
              <a:rPr lang="en-IN" smtClean="0"/>
              <a:t>‹#›</a:t>
            </a:fld>
            <a:endParaRPr lang="en-IN"/>
          </a:p>
        </p:txBody>
      </p:sp>
    </p:spTree>
    <p:extLst>
      <p:ext uri="{BB962C8B-B14F-4D97-AF65-F5344CB8AC3E}">
        <p14:creationId xmlns:p14="http://schemas.microsoft.com/office/powerpoint/2010/main" val="2449280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0403-5984-8901-BF20-631E73B80784}"/>
              </a:ext>
            </a:extLst>
          </p:cNvPr>
          <p:cNvSpPr>
            <a:spLocks noGrp="1"/>
          </p:cNvSpPr>
          <p:nvPr>
            <p:ph type="ctrTitle"/>
          </p:nvPr>
        </p:nvSpPr>
        <p:spPr>
          <a:xfrm>
            <a:off x="1524000" y="389467"/>
            <a:ext cx="9144000" cy="3120496"/>
          </a:xfrm>
        </p:spPr>
        <p:txBody>
          <a:bodyPr>
            <a:normAutofit/>
          </a:bodyPr>
          <a:lstStyle/>
          <a:p>
            <a:r>
              <a:rPr lang="en-IN" sz="4000" b="1" dirty="0">
                <a:latin typeface="Times New Roman" panose="02020603050405020304" pitchFamily="18" charset="0"/>
                <a:cs typeface="Times New Roman" panose="02020603050405020304" pitchFamily="18" charset="0"/>
              </a:rPr>
              <a:t>SMART ENTRY TAIL GATING </a:t>
            </a:r>
            <a:br>
              <a:rPr lang="en-IN" sz="4000" b="1" dirty="0">
                <a:latin typeface="Times New Roman" panose="02020603050405020304" pitchFamily="18" charset="0"/>
                <a:cs typeface="Times New Roman" panose="02020603050405020304" pitchFamily="18" charset="0"/>
              </a:rPr>
            </a:br>
            <a:r>
              <a:rPr lang="en-IN" sz="4000" b="1" dirty="0">
                <a:latin typeface="Times New Roman" panose="02020603050405020304" pitchFamily="18" charset="0"/>
                <a:cs typeface="Times New Roman" panose="02020603050405020304" pitchFamily="18" charset="0"/>
              </a:rPr>
              <a:t>ACCESS SYSTEM</a:t>
            </a:r>
            <a:br>
              <a:rPr lang="en-IN" sz="4400" b="1" dirty="0">
                <a:latin typeface="Times New Roman" panose="02020603050405020304" pitchFamily="18" charset="0"/>
                <a:cs typeface="Times New Roman" panose="02020603050405020304" pitchFamily="18" charset="0"/>
              </a:rPr>
            </a:br>
            <a:br>
              <a:rPr lang="en-IN" sz="4400" b="1" dirty="0">
                <a:latin typeface="Times New Roman" panose="02020603050405020304" pitchFamily="18" charset="0"/>
                <a:cs typeface="Times New Roman" panose="02020603050405020304" pitchFamily="18" charset="0"/>
              </a:rPr>
            </a:br>
            <a:br>
              <a:rPr lang="en-IN" sz="4400" b="1" dirty="0">
                <a:latin typeface="Times New Roman" panose="02020603050405020304" pitchFamily="18" charset="0"/>
                <a:cs typeface="Times New Roman" panose="02020603050405020304" pitchFamily="18" charset="0"/>
              </a:rPr>
            </a:br>
            <a:endParaRPr lang="en-IN"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2AA8733-70EE-69C5-4985-3C48C55F1111}"/>
              </a:ext>
            </a:extLst>
          </p:cNvPr>
          <p:cNvSpPr>
            <a:spLocks noGrp="1"/>
          </p:cNvSpPr>
          <p:nvPr>
            <p:ph type="subTitle" idx="1"/>
          </p:nvPr>
        </p:nvSpPr>
        <p:spPr>
          <a:xfrm>
            <a:off x="1524000" y="3683000"/>
            <a:ext cx="9144000" cy="1981200"/>
          </a:xfrm>
        </p:spPr>
        <p:txBody>
          <a:bodyPr>
            <a:normAutofit fontScale="77500" lnSpcReduction="20000"/>
          </a:bodyPr>
          <a:lstStyle/>
          <a:p>
            <a:r>
              <a:rPr lang="en-IN" dirty="0">
                <a:latin typeface="Times New Roman" panose="02020603050405020304" pitchFamily="18" charset="0"/>
                <a:cs typeface="Times New Roman" panose="02020603050405020304" pitchFamily="18" charset="0"/>
              </a:rPr>
              <a:t>AKULA ASHRITH SAI</a:t>
            </a:r>
          </a:p>
          <a:p>
            <a:r>
              <a:rPr lang="en-IN" dirty="0">
                <a:latin typeface="Times New Roman" panose="02020603050405020304" pitchFamily="18" charset="0"/>
                <a:cs typeface="Times New Roman" panose="02020603050405020304" pitchFamily="18" charset="0"/>
              </a:rPr>
              <a:t>COURSE: EMBEDDED SYSTEMS </a:t>
            </a:r>
          </a:p>
          <a:p>
            <a:r>
              <a:rPr lang="en-IN" dirty="0">
                <a:latin typeface="Times New Roman" panose="02020603050405020304" pitchFamily="18" charset="0"/>
                <a:cs typeface="Times New Roman" panose="02020603050405020304" pitchFamily="18" charset="0"/>
              </a:rPr>
              <a:t>SUPERVISOR:MEHAK MAJEED</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SURE </a:t>
            </a:r>
            <a:r>
              <a:rPr lang="en-IN" dirty="0" err="1">
                <a:latin typeface="Times New Roman" panose="02020603050405020304" pitchFamily="18" charset="0"/>
                <a:cs typeface="Times New Roman" panose="02020603050405020304" pitchFamily="18" charset="0"/>
              </a:rPr>
              <a:t>ProEd</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PUTTAPARTHI, ANDHRA PRADESH</a:t>
            </a:r>
          </a:p>
          <a:p>
            <a:endParaRPr lang="en-IN" dirty="0"/>
          </a:p>
        </p:txBody>
      </p:sp>
      <p:pic>
        <p:nvPicPr>
          <p:cNvPr id="4" name="Picture 3">
            <a:extLst>
              <a:ext uri="{FF2B5EF4-FFF2-40B4-BE49-F238E27FC236}">
                <a16:creationId xmlns:a16="http://schemas.microsoft.com/office/drawing/2014/main" id="{B4655020-BBF1-C43D-CEA1-DA97B21BFA55}"/>
              </a:ext>
            </a:extLst>
          </p:cNvPr>
          <p:cNvPicPr>
            <a:picLocks noChangeAspect="1"/>
          </p:cNvPicPr>
          <p:nvPr/>
        </p:nvPicPr>
        <p:blipFill>
          <a:blip r:embed="rId2"/>
          <a:stretch>
            <a:fillRect/>
          </a:stretch>
        </p:blipFill>
        <p:spPr>
          <a:xfrm>
            <a:off x="4955949" y="1897745"/>
            <a:ext cx="2280102" cy="1531255"/>
          </a:xfrm>
          <a:prstGeom prst="rect">
            <a:avLst/>
          </a:prstGeom>
        </p:spPr>
      </p:pic>
    </p:spTree>
    <p:extLst>
      <p:ext uri="{BB962C8B-B14F-4D97-AF65-F5344CB8AC3E}">
        <p14:creationId xmlns:p14="http://schemas.microsoft.com/office/powerpoint/2010/main" val="3048377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94E8D-DE07-3BCD-3495-038656762078}"/>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CONTENTS</a:t>
            </a:r>
            <a:r>
              <a:rPr lang="en-IN" sz="4000"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7D797639-7447-75BF-C00C-4C778A5031E6}"/>
              </a:ext>
            </a:extLst>
          </p:cNvPr>
          <p:cNvSpPr>
            <a:spLocks noGrp="1"/>
          </p:cNvSpPr>
          <p:nvPr>
            <p:ph idx="1"/>
          </p:nvPr>
        </p:nvSpPr>
        <p:spPr>
          <a:xfrm>
            <a:off x="838200" y="2192867"/>
            <a:ext cx="10515600" cy="3984096"/>
          </a:xfrm>
        </p:spPr>
        <p:txBody>
          <a:bodyPr>
            <a:normAutofit/>
          </a:bodyPr>
          <a:lstStyle/>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COMPONENTS</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METHODOLOGY</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HARDWARE SETUP</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SAMPLE IMAGES</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WORKING</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APPLICATIONS</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FUTURE SCOPE</a:t>
            </a:r>
          </a:p>
          <a:p>
            <a:pPr marL="0" indent="0">
              <a:buNone/>
            </a:pPr>
            <a:endParaRPr lang="en-US" dirty="0"/>
          </a:p>
        </p:txBody>
      </p:sp>
    </p:spTree>
    <p:extLst>
      <p:ext uri="{BB962C8B-B14F-4D97-AF65-F5344CB8AC3E}">
        <p14:creationId xmlns:p14="http://schemas.microsoft.com/office/powerpoint/2010/main" val="3901624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8B79D-17C3-9820-B791-E84416AC55B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722B1618-040F-EE29-429C-7677B82C8C86}"/>
              </a:ext>
            </a:extLst>
          </p:cNvPr>
          <p:cNvSpPr>
            <a:spLocks noGrp="1"/>
          </p:cNvSpPr>
          <p:nvPr>
            <p:ph idx="1"/>
          </p:nvPr>
        </p:nvSpPr>
        <p:spPr>
          <a:xfrm>
            <a:off x="838200" y="1825625"/>
            <a:ext cx="6680200" cy="4351338"/>
          </a:xfrm>
        </p:spPr>
        <p:txBody>
          <a:bodyPr>
            <a:normAutofit/>
          </a:bodyPr>
          <a:lstStyle/>
          <a:p>
            <a:pPr algn="just"/>
            <a:r>
              <a:rPr lang="en-US" sz="2400" dirty="0">
                <a:latin typeface="Times New Roman" panose="02020603050405020304" pitchFamily="18" charset="0"/>
                <a:cs typeface="Times New Roman" panose="02020603050405020304" pitchFamily="18" charset="0"/>
              </a:rPr>
              <a:t>The Smart Entry Tailgating Access System is an intelligent security solution designed to solve a major flaw in modern buildings: tailgating. </a:t>
            </a:r>
          </a:p>
          <a:p>
            <a:pPr algn="just"/>
            <a:r>
              <a:rPr lang="en-US" sz="2400" dirty="0">
                <a:latin typeface="Times New Roman" panose="02020603050405020304" pitchFamily="18" charset="0"/>
                <a:cs typeface="Times New Roman" panose="02020603050405020304" pitchFamily="18" charset="0"/>
              </a:rPr>
              <a:t>Tailgating happens when an unauthorized person slips through a door behind someone with a valid keycard.</a:t>
            </a:r>
          </a:p>
          <a:p>
            <a:pPr algn="just"/>
            <a:r>
              <a:rPr lang="en-US" sz="2400" dirty="0">
                <a:latin typeface="Times New Roman" panose="02020603050405020304" pitchFamily="18" charset="0"/>
                <a:cs typeface="Times New Roman" panose="02020603050405020304" pitchFamily="18" charset="0"/>
              </a:rPr>
              <a:t> Traditional doors are "dumb"—they stay open long enough for two or three people to enter, even if only one swiped.</a:t>
            </a: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3C7A2BF-DB22-6BDA-5C46-9F3049659F53}"/>
              </a:ext>
            </a:extLst>
          </p:cNvPr>
          <p:cNvPicPr>
            <a:picLocks noChangeAspect="1"/>
          </p:cNvPicPr>
          <p:nvPr/>
        </p:nvPicPr>
        <p:blipFill>
          <a:blip r:embed="rId2"/>
          <a:stretch>
            <a:fillRect/>
          </a:stretch>
        </p:blipFill>
        <p:spPr>
          <a:xfrm>
            <a:off x="7763933" y="1130300"/>
            <a:ext cx="4025053" cy="4597400"/>
          </a:xfrm>
          <a:prstGeom prst="rect">
            <a:avLst/>
          </a:prstGeom>
        </p:spPr>
      </p:pic>
    </p:spTree>
    <p:extLst>
      <p:ext uri="{BB962C8B-B14F-4D97-AF65-F5344CB8AC3E}">
        <p14:creationId xmlns:p14="http://schemas.microsoft.com/office/powerpoint/2010/main" val="339059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3D11-4B3B-2A34-530E-7AFB0D67D6E2}"/>
              </a:ext>
            </a:extLst>
          </p:cNvPr>
          <p:cNvSpPr>
            <a:spLocks noGrp="1"/>
          </p:cNvSpPr>
          <p:nvPr>
            <p:ph type="title"/>
          </p:nvPr>
        </p:nvSpPr>
        <p:spPr>
          <a:xfrm>
            <a:off x="838200" y="365126"/>
            <a:ext cx="10515600" cy="661988"/>
          </a:xfrm>
        </p:spPr>
        <p:txBody>
          <a:bodyPr>
            <a:normAutofit/>
          </a:bodyPr>
          <a:lstStyle/>
          <a:p>
            <a:r>
              <a:rPr lang="en-IN" sz="4000" dirty="0">
                <a:latin typeface="Times New Roman" panose="02020603050405020304" pitchFamily="18" charset="0"/>
                <a:cs typeface="Times New Roman" panose="02020603050405020304" pitchFamily="18" charset="0"/>
              </a:rPr>
              <a:t>COMPONENTS USED:</a:t>
            </a:r>
          </a:p>
        </p:txBody>
      </p:sp>
      <p:sp>
        <p:nvSpPr>
          <p:cNvPr id="6" name="Content Placeholder 5">
            <a:extLst>
              <a:ext uri="{FF2B5EF4-FFF2-40B4-BE49-F238E27FC236}">
                <a16:creationId xmlns:a16="http://schemas.microsoft.com/office/drawing/2014/main" id="{5E73412A-C6DB-0AE7-38EC-2CBE6E023B70}"/>
              </a:ext>
            </a:extLst>
          </p:cNvPr>
          <p:cNvSpPr>
            <a:spLocks noGrp="1"/>
          </p:cNvSpPr>
          <p:nvPr>
            <p:ph idx="1"/>
          </p:nvPr>
        </p:nvSpPr>
        <p:spPr>
          <a:xfrm>
            <a:off x="838200" y="1346200"/>
            <a:ext cx="10515600" cy="4830763"/>
          </a:xfrm>
        </p:spPr>
        <p:txBody>
          <a:bodyPr>
            <a:normAutofit/>
          </a:bodyPr>
          <a:lstStyle/>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ULTRASONIC SENSOR(HCSR04)</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IR SENSOR</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ESP-32</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RC522 RFID READER</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RFID TAGS</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16*2 I2C LCD DISPLAY</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BREADBOARD</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RGB LED</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RESISTORS(220 OHMS)</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JUMPER WIRES</a:t>
            </a:r>
          </a:p>
        </p:txBody>
      </p:sp>
      <p:pic>
        <p:nvPicPr>
          <p:cNvPr id="7" name="Picture 6">
            <a:extLst>
              <a:ext uri="{FF2B5EF4-FFF2-40B4-BE49-F238E27FC236}">
                <a16:creationId xmlns:a16="http://schemas.microsoft.com/office/drawing/2014/main" id="{FFF6D792-4A2C-DD4A-39CC-35765E6E0E11}"/>
              </a:ext>
            </a:extLst>
          </p:cNvPr>
          <p:cNvPicPr>
            <a:picLocks noChangeAspect="1"/>
          </p:cNvPicPr>
          <p:nvPr/>
        </p:nvPicPr>
        <p:blipFill>
          <a:blip r:embed="rId2"/>
          <a:stretch>
            <a:fillRect/>
          </a:stretch>
        </p:blipFill>
        <p:spPr>
          <a:xfrm>
            <a:off x="5838295" y="1281113"/>
            <a:ext cx="2034646" cy="1325563"/>
          </a:xfrm>
          <a:prstGeom prst="rect">
            <a:avLst/>
          </a:prstGeom>
        </p:spPr>
      </p:pic>
      <p:pic>
        <p:nvPicPr>
          <p:cNvPr id="8" name="Picture 7">
            <a:extLst>
              <a:ext uri="{FF2B5EF4-FFF2-40B4-BE49-F238E27FC236}">
                <a16:creationId xmlns:a16="http://schemas.microsoft.com/office/drawing/2014/main" id="{97E8A658-197C-B2DA-CEF0-9A56B5732FFA}"/>
              </a:ext>
            </a:extLst>
          </p:cNvPr>
          <p:cNvPicPr>
            <a:picLocks noChangeAspect="1"/>
          </p:cNvPicPr>
          <p:nvPr/>
        </p:nvPicPr>
        <p:blipFill>
          <a:blip r:embed="rId3"/>
          <a:stretch>
            <a:fillRect/>
          </a:stretch>
        </p:blipFill>
        <p:spPr>
          <a:xfrm>
            <a:off x="7656314" y="619125"/>
            <a:ext cx="2143125" cy="2143125"/>
          </a:xfrm>
          <a:prstGeom prst="rect">
            <a:avLst/>
          </a:prstGeom>
        </p:spPr>
      </p:pic>
      <p:pic>
        <p:nvPicPr>
          <p:cNvPr id="9" name="Picture 8">
            <a:extLst>
              <a:ext uri="{FF2B5EF4-FFF2-40B4-BE49-F238E27FC236}">
                <a16:creationId xmlns:a16="http://schemas.microsoft.com/office/drawing/2014/main" id="{4B8EA409-F0E3-CBDF-377F-8E43E21BE219}"/>
              </a:ext>
            </a:extLst>
          </p:cNvPr>
          <p:cNvPicPr>
            <a:picLocks noChangeAspect="1"/>
          </p:cNvPicPr>
          <p:nvPr/>
        </p:nvPicPr>
        <p:blipFill>
          <a:blip r:embed="rId4"/>
          <a:stretch>
            <a:fillRect/>
          </a:stretch>
        </p:blipFill>
        <p:spPr>
          <a:xfrm>
            <a:off x="10048875" y="528638"/>
            <a:ext cx="2143125" cy="2143125"/>
          </a:xfrm>
          <a:prstGeom prst="rect">
            <a:avLst/>
          </a:prstGeom>
        </p:spPr>
      </p:pic>
      <p:pic>
        <p:nvPicPr>
          <p:cNvPr id="10" name="Picture 9">
            <a:extLst>
              <a:ext uri="{FF2B5EF4-FFF2-40B4-BE49-F238E27FC236}">
                <a16:creationId xmlns:a16="http://schemas.microsoft.com/office/drawing/2014/main" id="{A84B32E6-F5F2-AC41-6667-C2270ED39639}"/>
              </a:ext>
            </a:extLst>
          </p:cNvPr>
          <p:cNvPicPr>
            <a:picLocks noChangeAspect="1"/>
          </p:cNvPicPr>
          <p:nvPr/>
        </p:nvPicPr>
        <p:blipFill>
          <a:blip r:embed="rId5"/>
          <a:stretch>
            <a:fillRect/>
          </a:stretch>
        </p:blipFill>
        <p:spPr>
          <a:xfrm>
            <a:off x="4712493" y="4271962"/>
            <a:ext cx="2143125" cy="2143125"/>
          </a:xfrm>
          <a:prstGeom prst="rect">
            <a:avLst/>
          </a:prstGeom>
        </p:spPr>
      </p:pic>
      <p:pic>
        <p:nvPicPr>
          <p:cNvPr id="11" name="Picture 10">
            <a:extLst>
              <a:ext uri="{FF2B5EF4-FFF2-40B4-BE49-F238E27FC236}">
                <a16:creationId xmlns:a16="http://schemas.microsoft.com/office/drawing/2014/main" id="{4ED490A9-BF9C-22C1-70B2-4D30D84F224C}"/>
              </a:ext>
            </a:extLst>
          </p:cNvPr>
          <p:cNvPicPr>
            <a:picLocks noChangeAspect="1"/>
          </p:cNvPicPr>
          <p:nvPr/>
        </p:nvPicPr>
        <p:blipFill>
          <a:blip r:embed="rId6"/>
          <a:stretch>
            <a:fillRect/>
          </a:stretch>
        </p:blipFill>
        <p:spPr>
          <a:xfrm>
            <a:off x="7236882" y="4386263"/>
            <a:ext cx="2143125" cy="2143125"/>
          </a:xfrm>
          <a:prstGeom prst="rect">
            <a:avLst/>
          </a:prstGeom>
        </p:spPr>
      </p:pic>
      <p:pic>
        <p:nvPicPr>
          <p:cNvPr id="12" name="Picture 11">
            <a:extLst>
              <a:ext uri="{FF2B5EF4-FFF2-40B4-BE49-F238E27FC236}">
                <a16:creationId xmlns:a16="http://schemas.microsoft.com/office/drawing/2014/main" id="{97EFBEB6-9F86-67BD-8AE1-849EA7BC6C56}"/>
              </a:ext>
            </a:extLst>
          </p:cNvPr>
          <p:cNvPicPr>
            <a:picLocks noChangeAspect="1"/>
          </p:cNvPicPr>
          <p:nvPr/>
        </p:nvPicPr>
        <p:blipFill>
          <a:blip r:embed="rId7"/>
          <a:stretch>
            <a:fillRect/>
          </a:stretch>
        </p:blipFill>
        <p:spPr>
          <a:xfrm>
            <a:off x="4870448" y="2638955"/>
            <a:ext cx="2143125" cy="1456794"/>
          </a:xfrm>
          <a:prstGeom prst="rect">
            <a:avLst/>
          </a:prstGeom>
        </p:spPr>
      </p:pic>
      <p:pic>
        <p:nvPicPr>
          <p:cNvPr id="13" name="Picture 12">
            <a:extLst>
              <a:ext uri="{FF2B5EF4-FFF2-40B4-BE49-F238E27FC236}">
                <a16:creationId xmlns:a16="http://schemas.microsoft.com/office/drawing/2014/main" id="{743F9A7C-DEC3-0C71-262D-3DFF6BCCC1D8}"/>
              </a:ext>
            </a:extLst>
          </p:cNvPr>
          <p:cNvPicPr>
            <a:picLocks noChangeAspect="1"/>
          </p:cNvPicPr>
          <p:nvPr/>
        </p:nvPicPr>
        <p:blipFill>
          <a:blip r:embed="rId8"/>
          <a:stretch>
            <a:fillRect/>
          </a:stretch>
        </p:blipFill>
        <p:spPr>
          <a:xfrm>
            <a:off x="7321553" y="3061097"/>
            <a:ext cx="2270121" cy="821532"/>
          </a:xfrm>
          <a:prstGeom prst="rect">
            <a:avLst/>
          </a:prstGeom>
        </p:spPr>
      </p:pic>
      <p:pic>
        <p:nvPicPr>
          <p:cNvPr id="14" name="Picture 13">
            <a:extLst>
              <a:ext uri="{FF2B5EF4-FFF2-40B4-BE49-F238E27FC236}">
                <a16:creationId xmlns:a16="http://schemas.microsoft.com/office/drawing/2014/main" id="{8E77A78E-C0B4-0142-900B-419977F76914}"/>
              </a:ext>
            </a:extLst>
          </p:cNvPr>
          <p:cNvPicPr>
            <a:picLocks noChangeAspect="1"/>
          </p:cNvPicPr>
          <p:nvPr/>
        </p:nvPicPr>
        <p:blipFill>
          <a:blip r:embed="rId9"/>
          <a:stretch>
            <a:fillRect/>
          </a:stretch>
        </p:blipFill>
        <p:spPr>
          <a:xfrm>
            <a:off x="9591674" y="4448175"/>
            <a:ext cx="2552700" cy="1790700"/>
          </a:xfrm>
          <a:prstGeom prst="rect">
            <a:avLst/>
          </a:prstGeom>
        </p:spPr>
      </p:pic>
      <p:pic>
        <p:nvPicPr>
          <p:cNvPr id="15" name="Picture 14">
            <a:extLst>
              <a:ext uri="{FF2B5EF4-FFF2-40B4-BE49-F238E27FC236}">
                <a16:creationId xmlns:a16="http://schemas.microsoft.com/office/drawing/2014/main" id="{5D138DE2-D1DA-502E-8944-D5A7C53D92B5}"/>
              </a:ext>
            </a:extLst>
          </p:cNvPr>
          <p:cNvPicPr>
            <a:picLocks noChangeAspect="1"/>
          </p:cNvPicPr>
          <p:nvPr/>
        </p:nvPicPr>
        <p:blipFill>
          <a:blip r:embed="rId10"/>
          <a:stretch>
            <a:fillRect/>
          </a:stretch>
        </p:blipFill>
        <p:spPr>
          <a:xfrm>
            <a:off x="9799439" y="2508250"/>
            <a:ext cx="2143125" cy="1828799"/>
          </a:xfrm>
          <a:prstGeom prst="rect">
            <a:avLst/>
          </a:prstGeom>
        </p:spPr>
      </p:pic>
    </p:spTree>
    <p:extLst>
      <p:ext uri="{BB962C8B-B14F-4D97-AF65-F5344CB8AC3E}">
        <p14:creationId xmlns:p14="http://schemas.microsoft.com/office/powerpoint/2010/main" val="272788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additive="base">
                                        <p:cTn id="1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anim calcmode="lin" valueType="num">
                                      <p:cBhvr additive="base">
                                        <p:cTn id="3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3" end="3"/>
                                            </p:txEl>
                                          </p:spTgt>
                                        </p:tgtEl>
                                        <p:attrNameLst>
                                          <p:attrName>style.visibility</p:attrName>
                                        </p:attrNameLst>
                                      </p:cBhvr>
                                      <p:to>
                                        <p:strVal val="visible"/>
                                      </p:to>
                                    </p:set>
                                    <p:anim calcmode="lin" valueType="num">
                                      <p:cBhvr additive="base">
                                        <p:cTn id="4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3" end="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6">
                                            <p:txEl>
                                              <p:pRg st="4" end="4"/>
                                            </p:txEl>
                                          </p:spTgt>
                                        </p:tgtEl>
                                        <p:attrNameLst>
                                          <p:attrName>style.visibility</p:attrName>
                                        </p:attrNameLst>
                                      </p:cBhvr>
                                      <p:to>
                                        <p:strVal val="visible"/>
                                      </p:to>
                                    </p:set>
                                    <p:anim calcmode="lin" valueType="num">
                                      <p:cBhvr additive="base">
                                        <p:cTn id="4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ppt_x"/>
                                          </p:val>
                                        </p:tav>
                                        <p:tav tm="100000">
                                          <p:val>
                                            <p:strVal val="#ppt_x"/>
                                          </p:val>
                                        </p:tav>
                                      </p:tavLst>
                                    </p:anim>
                                    <p:anim calcmode="lin" valueType="num">
                                      <p:cBhvr additive="base">
                                        <p:cTn id="5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6">
                                            <p:txEl>
                                              <p:pRg st="5" end="5"/>
                                            </p:txEl>
                                          </p:spTgt>
                                        </p:tgtEl>
                                        <p:attrNameLst>
                                          <p:attrName>style.visibility</p:attrName>
                                        </p:attrNameLst>
                                      </p:cBhvr>
                                      <p:to>
                                        <p:strVal val="visible"/>
                                      </p:to>
                                    </p:set>
                                    <p:anim calcmode="lin" valueType="num">
                                      <p:cBhvr additive="base">
                                        <p:cTn id="5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anim calcmode="lin" valueType="num">
                                      <p:cBhvr additive="base">
                                        <p:cTn id="65" dur="500" fill="hold"/>
                                        <p:tgtEl>
                                          <p:spTgt spid="11"/>
                                        </p:tgtEl>
                                        <p:attrNameLst>
                                          <p:attrName>ppt_x</p:attrName>
                                        </p:attrNameLst>
                                      </p:cBhvr>
                                      <p:tavLst>
                                        <p:tav tm="0">
                                          <p:val>
                                            <p:strVal val="#ppt_x"/>
                                          </p:val>
                                        </p:tav>
                                        <p:tav tm="100000">
                                          <p:val>
                                            <p:strVal val="#ppt_x"/>
                                          </p:val>
                                        </p:tav>
                                      </p:tavLst>
                                    </p:anim>
                                    <p:anim calcmode="lin" valueType="num">
                                      <p:cBhvr additive="base">
                                        <p:cTn id="6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6">
                                            <p:txEl>
                                              <p:pRg st="6" end="6"/>
                                            </p:txEl>
                                          </p:spTgt>
                                        </p:tgtEl>
                                        <p:attrNameLst>
                                          <p:attrName>style.visibility</p:attrName>
                                        </p:attrNameLst>
                                      </p:cBhvr>
                                      <p:to>
                                        <p:strVal val="visible"/>
                                      </p:to>
                                    </p:set>
                                    <p:anim calcmode="lin" valueType="num">
                                      <p:cBhvr additive="base">
                                        <p:cTn id="71"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4"/>
                                        </p:tgtEl>
                                        <p:attrNameLst>
                                          <p:attrName>style.visibility</p:attrName>
                                        </p:attrNameLst>
                                      </p:cBhvr>
                                      <p:to>
                                        <p:strVal val="visible"/>
                                      </p:to>
                                    </p:set>
                                    <p:anim calcmode="lin" valueType="num">
                                      <p:cBhvr additive="base">
                                        <p:cTn id="77" dur="500" fill="hold"/>
                                        <p:tgtEl>
                                          <p:spTgt spid="14"/>
                                        </p:tgtEl>
                                        <p:attrNameLst>
                                          <p:attrName>ppt_x</p:attrName>
                                        </p:attrNameLst>
                                      </p:cBhvr>
                                      <p:tavLst>
                                        <p:tav tm="0">
                                          <p:val>
                                            <p:strVal val="#ppt_x"/>
                                          </p:val>
                                        </p:tav>
                                        <p:tav tm="100000">
                                          <p:val>
                                            <p:strVal val="#ppt_x"/>
                                          </p:val>
                                        </p:tav>
                                      </p:tavLst>
                                    </p:anim>
                                    <p:anim calcmode="lin" valueType="num">
                                      <p:cBhvr additive="base">
                                        <p:cTn id="7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6">
                                            <p:txEl>
                                              <p:pRg st="7" end="7"/>
                                            </p:txEl>
                                          </p:spTgt>
                                        </p:tgtEl>
                                        <p:attrNameLst>
                                          <p:attrName>style.visibility</p:attrName>
                                        </p:attrNameLst>
                                      </p:cBhvr>
                                      <p:to>
                                        <p:strVal val="visible"/>
                                      </p:to>
                                    </p:set>
                                    <p:anim calcmode="lin" valueType="num">
                                      <p:cBhvr additive="base">
                                        <p:cTn id="83"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12"/>
                                        </p:tgtEl>
                                        <p:attrNameLst>
                                          <p:attrName>style.visibility</p:attrName>
                                        </p:attrNameLst>
                                      </p:cBhvr>
                                      <p:to>
                                        <p:strVal val="visible"/>
                                      </p:to>
                                    </p:set>
                                    <p:anim calcmode="lin" valueType="num">
                                      <p:cBhvr additive="base">
                                        <p:cTn id="89" dur="500" fill="hold"/>
                                        <p:tgtEl>
                                          <p:spTgt spid="12"/>
                                        </p:tgtEl>
                                        <p:attrNameLst>
                                          <p:attrName>ppt_x</p:attrName>
                                        </p:attrNameLst>
                                      </p:cBhvr>
                                      <p:tavLst>
                                        <p:tav tm="0">
                                          <p:val>
                                            <p:strVal val="#ppt_x"/>
                                          </p:val>
                                        </p:tav>
                                        <p:tav tm="100000">
                                          <p:val>
                                            <p:strVal val="#ppt_x"/>
                                          </p:val>
                                        </p:tav>
                                      </p:tavLst>
                                    </p:anim>
                                    <p:anim calcmode="lin" valueType="num">
                                      <p:cBhvr additive="base">
                                        <p:cTn id="9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6">
                                            <p:txEl>
                                              <p:pRg st="8" end="8"/>
                                            </p:txEl>
                                          </p:spTgt>
                                        </p:tgtEl>
                                        <p:attrNameLst>
                                          <p:attrName>style.visibility</p:attrName>
                                        </p:attrNameLst>
                                      </p:cBhvr>
                                      <p:to>
                                        <p:strVal val="visible"/>
                                      </p:to>
                                    </p:set>
                                    <p:anim calcmode="lin" valueType="num">
                                      <p:cBhvr additive="base">
                                        <p:cTn id="95"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13"/>
                                        </p:tgtEl>
                                        <p:attrNameLst>
                                          <p:attrName>style.visibility</p:attrName>
                                        </p:attrNameLst>
                                      </p:cBhvr>
                                      <p:to>
                                        <p:strVal val="visible"/>
                                      </p:to>
                                    </p:set>
                                    <p:anim calcmode="lin" valueType="num">
                                      <p:cBhvr additive="base">
                                        <p:cTn id="101" dur="500" fill="hold"/>
                                        <p:tgtEl>
                                          <p:spTgt spid="13"/>
                                        </p:tgtEl>
                                        <p:attrNameLst>
                                          <p:attrName>ppt_x</p:attrName>
                                        </p:attrNameLst>
                                      </p:cBhvr>
                                      <p:tavLst>
                                        <p:tav tm="0">
                                          <p:val>
                                            <p:strVal val="#ppt_x"/>
                                          </p:val>
                                        </p:tav>
                                        <p:tav tm="100000">
                                          <p:val>
                                            <p:strVal val="#ppt_x"/>
                                          </p:val>
                                        </p:tav>
                                      </p:tavLst>
                                    </p:anim>
                                    <p:anim calcmode="lin" valueType="num">
                                      <p:cBhvr additive="base">
                                        <p:cTn id="10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6">
                                            <p:txEl>
                                              <p:pRg st="9" end="9"/>
                                            </p:txEl>
                                          </p:spTgt>
                                        </p:tgtEl>
                                        <p:attrNameLst>
                                          <p:attrName>style.visibility</p:attrName>
                                        </p:attrNameLst>
                                      </p:cBhvr>
                                      <p:to>
                                        <p:strVal val="visible"/>
                                      </p:to>
                                    </p:set>
                                    <p:anim calcmode="lin" valueType="num">
                                      <p:cBhvr additive="base">
                                        <p:cTn id="107"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nodeType="clickEffect">
                                  <p:stCondLst>
                                    <p:cond delay="0"/>
                                  </p:stCondLst>
                                  <p:childTnLst>
                                    <p:set>
                                      <p:cBhvr>
                                        <p:cTn id="112" dur="1" fill="hold">
                                          <p:stCondLst>
                                            <p:cond delay="0"/>
                                          </p:stCondLst>
                                        </p:cTn>
                                        <p:tgtEl>
                                          <p:spTgt spid="15"/>
                                        </p:tgtEl>
                                        <p:attrNameLst>
                                          <p:attrName>style.visibility</p:attrName>
                                        </p:attrNameLst>
                                      </p:cBhvr>
                                      <p:to>
                                        <p:strVal val="visible"/>
                                      </p:to>
                                    </p:set>
                                    <p:anim calcmode="lin" valueType="num">
                                      <p:cBhvr additive="base">
                                        <p:cTn id="113" dur="500" fill="hold"/>
                                        <p:tgtEl>
                                          <p:spTgt spid="15"/>
                                        </p:tgtEl>
                                        <p:attrNameLst>
                                          <p:attrName>ppt_x</p:attrName>
                                        </p:attrNameLst>
                                      </p:cBhvr>
                                      <p:tavLst>
                                        <p:tav tm="0">
                                          <p:val>
                                            <p:strVal val="#ppt_x"/>
                                          </p:val>
                                        </p:tav>
                                        <p:tav tm="100000">
                                          <p:val>
                                            <p:strVal val="#ppt_x"/>
                                          </p:val>
                                        </p:tav>
                                      </p:tavLst>
                                    </p:anim>
                                    <p:anim calcmode="lin" valueType="num">
                                      <p:cBhvr additive="base">
                                        <p:cTn id="1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4B009-E364-8DCB-A61D-4859981E7FA5}"/>
              </a:ext>
            </a:extLst>
          </p:cNvPr>
          <p:cNvSpPr>
            <a:spLocks noGrp="1"/>
          </p:cNvSpPr>
          <p:nvPr>
            <p:ph type="title"/>
          </p:nvPr>
        </p:nvSpPr>
        <p:spPr>
          <a:xfrm>
            <a:off x="838200" y="365125"/>
            <a:ext cx="10515600" cy="783191"/>
          </a:xfrm>
        </p:spPr>
        <p:txBody>
          <a:bodyPr>
            <a:normAutofit/>
          </a:bodyPr>
          <a:lstStyle/>
          <a:p>
            <a:r>
              <a:rPr lang="en-IN" sz="4000" dirty="0">
                <a:latin typeface="Times New Roman" panose="02020603050405020304" pitchFamily="18" charset="0"/>
                <a:cs typeface="Times New Roman" panose="02020603050405020304" pitchFamily="18" charset="0"/>
              </a:rPr>
              <a:t>METHODOLOGY:</a:t>
            </a:r>
          </a:p>
        </p:txBody>
      </p:sp>
      <p:pic>
        <p:nvPicPr>
          <p:cNvPr id="6" name="Content Placeholder 5">
            <a:extLst>
              <a:ext uri="{FF2B5EF4-FFF2-40B4-BE49-F238E27FC236}">
                <a16:creationId xmlns:a16="http://schemas.microsoft.com/office/drawing/2014/main" id="{6E9ED3FE-144D-6EDD-45F0-74CC14901955}"/>
              </a:ext>
            </a:extLst>
          </p:cNvPr>
          <p:cNvPicPr>
            <a:picLocks noGrp="1" noChangeAspect="1"/>
          </p:cNvPicPr>
          <p:nvPr>
            <p:ph idx="1"/>
          </p:nvPr>
        </p:nvPicPr>
        <p:blipFill>
          <a:blip r:embed="rId2"/>
          <a:stretch>
            <a:fillRect/>
          </a:stretch>
        </p:blipFill>
        <p:spPr>
          <a:xfrm>
            <a:off x="3691467" y="1063095"/>
            <a:ext cx="5782734" cy="5583238"/>
          </a:xfrm>
          <a:prstGeom prst="rect">
            <a:avLst/>
          </a:prstGeom>
        </p:spPr>
      </p:pic>
    </p:spTree>
    <p:extLst>
      <p:ext uri="{BB962C8B-B14F-4D97-AF65-F5344CB8AC3E}">
        <p14:creationId xmlns:p14="http://schemas.microsoft.com/office/powerpoint/2010/main" val="3286051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433B9-6147-488A-1F5C-8DEEAD8A6F7E}"/>
              </a:ext>
            </a:extLst>
          </p:cNvPr>
          <p:cNvSpPr>
            <a:spLocks noGrp="1"/>
          </p:cNvSpPr>
          <p:nvPr>
            <p:ph type="title"/>
          </p:nvPr>
        </p:nvSpPr>
        <p:spPr>
          <a:xfrm>
            <a:off x="838200" y="365125"/>
            <a:ext cx="10515600" cy="698131"/>
          </a:xfrm>
        </p:spPr>
        <p:txBody>
          <a:bodyPr>
            <a:normAutofit/>
          </a:bodyPr>
          <a:lstStyle/>
          <a:p>
            <a:r>
              <a:rPr lang="en-IN" sz="4000" dirty="0">
                <a:latin typeface="Times New Roman" panose="02020603050405020304" pitchFamily="18" charset="0"/>
                <a:cs typeface="Times New Roman" panose="02020603050405020304" pitchFamily="18" charset="0"/>
              </a:rPr>
              <a:t>HARDWARE SETUP:</a:t>
            </a:r>
          </a:p>
        </p:txBody>
      </p:sp>
      <p:pic>
        <p:nvPicPr>
          <p:cNvPr id="4" name="Content Placeholder 3">
            <a:extLst>
              <a:ext uri="{FF2B5EF4-FFF2-40B4-BE49-F238E27FC236}">
                <a16:creationId xmlns:a16="http://schemas.microsoft.com/office/drawing/2014/main" id="{453122A7-5A1F-08A1-5E16-58BA7DD156CC}"/>
              </a:ext>
            </a:extLst>
          </p:cNvPr>
          <p:cNvPicPr>
            <a:picLocks noGrp="1" noChangeAspect="1"/>
          </p:cNvPicPr>
          <p:nvPr>
            <p:ph idx="1"/>
          </p:nvPr>
        </p:nvPicPr>
        <p:blipFill>
          <a:blip r:embed="rId2"/>
          <a:stretch>
            <a:fillRect/>
          </a:stretch>
        </p:blipFill>
        <p:spPr>
          <a:xfrm>
            <a:off x="6595533" y="1776412"/>
            <a:ext cx="5325534" cy="3176587"/>
          </a:xfrm>
          <a:prstGeom prst="rect">
            <a:avLst/>
          </a:prstGeom>
        </p:spPr>
      </p:pic>
      <p:pic>
        <p:nvPicPr>
          <p:cNvPr id="3" name="Picture 2">
            <a:extLst>
              <a:ext uri="{FF2B5EF4-FFF2-40B4-BE49-F238E27FC236}">
                <a16:creationId xmlns:a16="http://schemas.microsoft.com/office/drawing/2014/main" id="{623AC8C0-286F-6367-7B41-319A6832D026}"/>
              </a:ext>
            </a:extLst>
          </p:cNvPr>
          <p:cNvPicPr>
            <a:picLocks noChangeAspect="1"/>
          </p:cNvPicPr>
          <p:nvPr/>
        </p:nvPicPr>
        <p:blipFill>
          <a:blip r:embed="rId3"/>
          <a:stretch>
            <a:fillRect/>
          </a:stretch>
        </p:blipFill>
        <p:spPr>
          <a:xfrm>
            <a:off x="0" y="1422400"/>
            <a:ext cx="6433311" cy="4183591"/>
          </a:xfrm>
          <a:prstGeom prst="rect">
            <a:avLst/>
          </a:prstGeom>
        </p:spPr>
      </p:pic>
    </p:spTree>
    <p:extLst>
      <p:ext uri="{BB962C8B-B14F-4D97-AF65-F5344CB8AC3E}">
        <p14:creationId xmlns:p14="http://schemas.microsoft.com/office/powerpoint/2010/main" val="13595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3174-B21B-B7A6-36E2-AD63A5C6B2DD}"/>
              </a:ext>
            </a:extLst>
          </p:cNvPr>
          <p:cNvSpPr>
            <a:spLocks noGrp="1"/>
          </p:cNvSpPr>
          <p:nvPr>
            <p:ph type="title"/>
          </p:nvPr>
        </p:nvSpPr>
        <p:spPr>
          <a:xfrm>
            <a:off x="838200" y="365126"/>
            <a:ext cx="10515600" cy="608542"/>
          </a:xfrm>
        </p:spPr>
        <p:txBody>
          <a:bodyPr>
            <a:normAutofit fontScale="90000"/>
          </a:bodyPr>
          <a:lstStyle/>
          <a:p>
            <a:r>
              <a:rPr lang="en-IN" dirty="0">
                <a:latin typeface="Times New Roman" panose="02020603050405020304" pitchFamily="18" charset="0"/>
                <a:cs typeface="Times New Roman" panose="02020603050405020304" pitchFamily="18" charset="0"/>
              </a:rPr>
              <a:t>WORKING:</a:t>
            </a:r>
          </a:p>
        </p:txBody>
      </p:sp>
      <p:sp>
        <p:nvSpPr>
          <p:cNvPr id="3" name="Content Placeholder 2">
            <a:extLst>
              <a:ext uri="{FF2B5EF4-FFF2-40B4-BE49-F238E27FC236}">
                <a16:creationId xmlns:a16="http://schemas.microsoft.com/office/drawing/2014/main" id="{FC6E2D4E-2010-508C-063F-17AC8D1CD599}"/>
              </a:ext>
            </a:extLst>
          </p:cNvPr>
          <p:cNvSpPr>
            <a:spLocks noGrp="1"/>
          </p:cNvSpPr>
          <p:nvPr>
            <p:ph idx="1"/>
          </p:nvPr>
        </p:nvSpPr>
        <p:spPr>
          <a:xfrm>
            <a:off x="838200" y="1439333"/>
            <a:ext cx="10515600" cy="4737630"/>
          </a:xfrm>
        </p:spPr>
        <p:txBody>
          <a:bodyPr>
            <a:normAutofit/>
          </a:bodyPr>
          <a:lstStyle/>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working of this Secure Gate Access System can be broken down into four distinct phases: Authentication, Security Screening, Physical Access, and Logging. The project uses a "Multi-Factor" approach by combining identity (RFID) with physical behavior (Ultrasonic leg counting).</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1. Authentication Phase (The "Who")</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process begins when a user taps an RFID Tag against the MFRC522 reader.</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UID Verification:</a:t>
            </a:r>
            <a:r>
              <a:rPr lang="en-US" sz="2400" dirty="0">
                <a:latin typeface="Times New Roman" panose="02020603050405020304" pitchFamily="18" charset="0"/>
                <a:cs typeface="Times New Roman" panose="02020603050405020304" pitchFamily="18" charset="0"/>
              </a:rPr>
              <a:t> The ESP32 reads the unique ID of the tag and compares it against a predefined list (users[]) in the code.</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Anti-Pass back Check:</a:t>
            </a:r>
            <a:r>
              <a:rPr lang="en-US" sz="2400" dirty="0">
                <a:latin typeface="Times New Roman" panose="02020603050405020304" pitchFamily="18" charset="0"/>
                <a:cs typeface="Times New Roman" panose="02020603050405020304" pitchFamily="18" charset="0"/>
              </a:rPr>
              <a:t> The system checks the is Inside variable. If the user is already marked as "Inside," the system denies entry and sends a Telegram Alert, preventing one person from "passing back" their card to a friend.</a:t>
            </a:r>
          </a:p>
          <a:p>
            <a:pPr algn="just"/>
            <a:endParaRPr lang="en-US" sz="2400" dirty="0"/>
          </a:p>
        </p:txBody>
      </p:sp>
    </p:spTree>
    <p:extLst>
      <p:ext uri="{BB962C8B-B14F-4D97-AF65-F5344CB8AC3E}">
        <p14:creationId xmlns:p14="http://schemas.microsoft.com/office/powerpoint/2010/main" val="3133913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C3788E1F-82AA-8278-A157-F299E790229E}"/>
              </a:ext>
            </a:extLst>
          </p:cNvPr>
          <p:cNvSpPr>
            <a:spLocks noGrp="1" noChangeArrowheads="1"/>
          </p:cNvSpPr>
          <p:nvPr>
            <p:ph idx="1"/>
          </p:nvPr>
        </p:nvSpPr>
        <p:spPr bwMode="auto">
          <a:xfrm>
            <a:off x="304800" y="1397139"/>
            <a:ext cx="11617234"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Screening Phase (The "Tailgate Check")</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Once the card is valid, the system doesn't just open the gate; it starts a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3-second Security Scan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the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HC-SR04 Ultrasonic Sensor.</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Ultrasonic "Ping":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sensor sends out sound waves. If they bounce off an object within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18cm,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registers a "Leg."</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Counting Logic:</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code is designed to look for a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 detected 		(No object) 		Object detected.</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Tailgate Detection: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the sensor counts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person,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gate proceeds to open.</a:t>
            </a:r>
          </a:p>
          <a:p>
            <a:pPr marR="0" lvl="1"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it counts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or more people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legs passing with a gap), it triggers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Tailgate Alert,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keeps the gate locked, and notifies the administrator via the </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Telegram Bot.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cxnSp>
        <p:nvCxnSpPr>
          <p:cNvPr id="7" name="Straight Arrow Connector 6">
            <a:extLst>
              <a:ext uri="{FF2B5EF4-FFF2-40B4-BE49-F238E27FC236}">
                <a16:creationId xmlns:a16="http://schemas.microsoft.com/office/drawing/2014/main" id="{1C8D648B-F6DC-0771-D7E8-8A05EC2520F8}"/>
              </a:ext>
            </a:extLst>
          </p:cNvPr>
          <p:cNvCxnSpPr>
            <a:cxnSpLocks/>
          </p:cNvCxnSpPr>
          <p:nvPr/>
        </p:nvCxnSpPr>
        <p:spPr>
          <a:xfrm>
            <a:off x="2760134" y="3818465"/>
            <a:ext cx="110913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94939107-5BCC-D465-9F75-86918A69B6DB}"/>
              </a:ext>
            </a:extLst>
          </p:cNvPr>
          <p:cNvCxnSpPr>
            <a:cxnSpLocks/>
          </p:cNvCxnSpPr>
          <p:nvPr/>
        </p:nvCxnSpPr>
        <p:spPr>
          <a:xfrm>
            <a:off x="5571066" y="3818465"/>
            <a:ext cx="104986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33002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FB1315-8E89-AB2E-5C2E-83683B749E17}"/>
              </a:ext>
            </a:extLst>
          </p:cNvPr>
          <p:cNvSpPr>
            <a:spLocks noGrp="1"/>
          </p:cNvSpPr>
          <p:nvPr>
            <p:ph idx="1"/>
          </p:nvPr>
        </p:nvSpPr>
        <p:spPr>
          <a:xfrm>
            <a:off x="838200" y="1422399"/>
            <a:ext cx="10515600" cy="4754563"/>
          </a:xfrm>
        </p:spPr>
        <p:txBody>
          <a:bodyPr>
            <a:normAutofit/>
          </a:bodyPr>
          <a:lstStyle/>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Physical Access Phase (The "Gate")</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scan passes (1 person detected), the Servo Motor acts as the physical barrier.</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Opening:</a:t>
            </a:r>
            <a:r>
              <a:rPr lang="en-US" sz="2400" dirty="0">
                <a:latin typeface="Times New Roman" panose="02020603050405020304" pitchFamily="18" charset="0"/>
                <a:cs typeface="Times New Roman" panose="02020603050405020304" pitchFamily="18" charset="0"/>
              </a:rPr>
              <a:t> The servo rotates to 175° to move the gate arm.</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IR Sensor Monitoring:</a:t>
            </a:r>
            <a:r>
              <a:rPr lang="en-US" sz="2400" dirty="0">
                <a:latin typeface="Times New Roman" panose="02020603050405020304" pitchFamily="18" charset="0"/>
                <a:cs typeface="Times New Roman" panose="02020603050405020304" pitchFamily="18" charset="0"/>
              </a:rPr>
              <a:t> The gate does not close on a timer. Instead, it uses an IR Sensor (Infrared) placed at the entrance.</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Auto-Close:</a:t>
            </a:r>
            <a:r>
              <a:rPr lang="en-US" sz="2400" dirty="0">
                <a:latin typeface="Times New Roman" panose="02020603050405020304" pitchFamily="18" charset="0"/>
                <a:cs typeface="Times New Roman" panose="02020603050405020304" pitchFamily="18" charset="0"/>
              </a:rPr>
              <a:t> The IR sensor emits a beam. When the person walks through, they break the beam (LOW). Once they clear the beam (HIGH), the ESP32 knows the person is safely through and moves the servo back to 55° to lock the gate.</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4304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3E897D-51AD-C292-7F09-F3765DE816F0}"/>
              </a:ext>
            </a:extLst>
          </p:cNvPr>
          <p:cNvSpPr>
            <a:spLocks noGrp="1"/>
          </p:cNvSpPr>
          <p:nvPr>
            <p:ph idx="1"/>
          </p:nvPr>
        </p:nvSpPr>
        <p:spPr>
          <a:xfrm>
            <a:off x="457199" y="1380067"/>
            <a:ext cx="11396133" cy="4796895"/>
          </a:xfrm>
        </p:spPr>
        <p:txBody>
          <a:bodyPr>
            <a:normAutofit/>
          </a:bodyPr>
          <a:lstStyle/>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Logging and Connectivity (The "Record")</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Throughout the entire process, the ESP32 acts as a data logger.</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NTP Time Sync:</a:t>
            </a:r>
            <a:r>
              <a:rPr lang="en-US" sz="2400" dirty="0">
                <a:latin typeface="Times New Roman" panose="02020603050405020304" pitchFamily="18" charset="0"/>
                <a:cs typeface="Times New Roman" panose="02020603050405020304" pitchFamily="18" charset="0"/>
              </a:rPr>
              <a:t> During startup, the ESP32 connects to Wi-Fi and fetches the global date and time from Google’s NTP servers.</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Serial Table:</a:t>
            </a:r>
            <a:r>
              <a:rPr lang="en-US" sz="2400" dirty="0">
                <a:latin typeface="Times New Roman" panose="02020603050405020304" pitchFamily="18" charset="0"/>
                <a:cs typeface="Times New Roman" panose="02020603050405020304" pitchFamily="18" charset="0"/>
              </a:rPr>
              <a:t> Every event (Success, Tailgate, Re-entry attempt) is printed to the Serial Monitor in a formatted table, showing the Date, Time (seconds since boot), Username, and Status.</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IoT Alerts:</a:t>
            </a:r>
            <a:r>
              <a:rPr lang="en-US" sz="2400" dirty="0">
                <a:latin typeface="Times New Roman" panose="02020603050405020304" pitchFamily="18" charset="0"/>
                <a:cs typeface="Times New Roman" panose="02020603050405020304" pitchFamily="18" charset="0"/>
              </a:rPr>
              <a:t> Using the Universal Telegram Bot library, the system sends real-time security notifications to your phone, allowing you to monitor the gate from anywhere in the world.</a:t>
            </a:r>
          </a:p>
          <a:p>
            <a:pPr algn="just">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5094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D74DC-CA34-ED17-7A0F-7693A25A2C06}"/>
              </a:ext>
            </a:extLst>
          </p:cNvPr>
          <p:cNvSpPr>
            <a:spLocks noGrp="1"/>
          </p:cNvSpPr>
          <p:nvPr>
            <p:ph type="title"/>
          </p:nvPr>
        </p:nvSpPr>
        <p:spPr>
          <a:xfrm>
            <a:off x="838200" y="365125"/>
            <a:ext cx="10515600" cy="752475"/>
          </a:xfrm>
        </p:spPr>
        <p:txBody>
          <a:bodyPr>
            <a:normAutofit/>
          </a:bodyPr>
          <a:lstStyle/>
          <a:p>
            <a:r>
              <a:rPr lang="en-IN" sz="4000" dirty="0">
                <a:latin typeface="Times New Roman" panose="02020603050405020304" pitchFamily="18" charset="0"/>
                <a:cs typeface="Times New Roman" panose="02020603050405020304" pitchFamily="18" charset="0"/>
              </a:rPr>
              <a:t>SAMPLE IMAGES:</a:t>
            </a:r>
          </a:p>
        </p:txBody>
      </p:sp>
      <p:pic>
        <p:nvPicPr>
          <p:cNvPr id="4" name="Content Placeholder 3">
            <a:extLst>
              <a:ext uri="{FF2B5EF4-FFF2-40B4-BE49-F238E27FC236}">
                <a16:creationId xmlns:a16="http://schemas.microsoft.com/office/drawing/2014/main" id="{5CBCB706-21E6-618C-D416-7266789DC96B}"/>
              </a:ext>
            </a:extLst>
          </p:cNvPr>
          <p:cNvPicPr>
            <a:picLocks noGrp="1" noChangeAspect="1"/>
          </p:cNvPicPr>
          <p:nvPr>
            <p:ph idx="1"/>
          </p:nvPr>
        </p:nvPicPr>
        <p:blipFill>
          <a:blip r:embed="rId2"/>
          <a:stretch>
            <a:fillRect/>
          </a:stretch>
        </p:blipFill>
        <p:spPr>
          <a:xfrm>
            <a:off x="1219200" y="1642532"/>
            <a:ext cx="2743200" cy="4314297"/>
          </a:xfrm>
          <a:prstGeom prst="rect">
            <a:avLst/>
          </a:prstGeom>
        </p:spPr>
      </p:pic>
      <p:pic>
        <p:nvPicPr>
          <p:cNvPr id="6" name="Picture 5">
            <a:extLst>
              <a:ext uri="{FF2B5EF4-FFF2-40B4-BE49-F238E27FC236}">
                <a16:creationId xmlns:a16="http://schemas.microsoft.com/office/drawing/2014/main" id="{35FE177D-7FEA-7ECF-2938-67F6C55059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3843" y="2040467"/>
            <a:ext cx="7039957" cy="3533413"/>
          </a:xfrm>
          <a:prstGeom prst="rect">
            <a:avLst/>
          </a:prstGeom>
        </p:spPr>
      </p:pic>
    </p:spTree>
    <p:extLst>
      <p:ext uri="{BB962C8B-B14F-4D97-AF65-F5344CB8AC3E}">
        <p14:creationId xmlns:p14="http://schemas.microsoft.com/office/powerpoint/2010/main" val="4171184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536B1-650E-44EE-9C2B-8D27B03F024F}"/>
              </a:ext>
            </a:extLst>
          </p:cNvPr>
          <p:cNvSpPr>
            <a:spLocks noGrp="1"/>
          </p:cNvSpPr>
          <p:nvPr>
            <p:ph type="title"/>
          </p:nvPr>
        </p:nvSpPr>
        <p:spPr>
          <a:xfrm>
            <a:off x="838200" y="365126"/>
            <a:ext cx="10515600" cy="820208"/>
          </a:xfrm>
        </p:spPr>
        <p:txBody>
          <a:bodyPr>
            <a:normAutofit/>
          </a:bodyPr>
          <a:lstStyle/>
          <a:p>
            <a:r>
              <a:rPr lang="en-IN" sz="4000" dirty="0">
                <a:latin typeface="Times New Roman" panose="02020603050405020304" pitchFamily="18" charset="0"/>
                <a:cs typeface="Times New Roman" panose="02020603050405020304" pitchFamily="18" charset="0"/>
              </a:rPr>
              <a:t>APPLICATIONS:</a:t>
            </a:r>
          </a:p>
        </p:txBody>
      </p:sp>
      <p:pic>
        <p:nvPicPr>
          <p:cNvPr id="4" name="Content Placeholder 3">
            <a:extLst>
              <a:ext uri="{FF2B5EF4-FFF2-40B4-BE49-F238E27FC236}">
                <a16:creationId xmlns:a16="http://schemas.microsoft.com/office/drawing/2014/main" id="{88654B5D-B7D0-1FE7-2ED5-6169503BEC2B}"/>
              </a:ext>
            </a:extLst>
          </p:cNvPr>
          <p:cNvPicPr>
            <a:picLocks noGrp="1" noChangeAspect="1"/>
          </p:cNvPicPr>
          <p:nvPr>
            <p:ph idx="1"/>
          </p:nvPr>
        </p:nvPicPr>
        <p:blipFill>
          <a:blip r:embed="rId2"/>
          <a:stretch>
            <a:fillRect/>
          </a:stretch>
        </p:blipFill>
        <p:spPr>
          <a:xfrm>
            <a:off x="1675077" y="1354138"/>
            <a:ext cx="8841845" cy="4822825"/>
          </a:xfrm>
          <a:prstGeom prst="rect">
            <a:avLst/>
          </a:prstGeom>
        </p:spPr>
      </p:pic>
    </p:spTree>
    <p:extLst>
      <p:ext uri="{BB962C8B-B14F-4D97-AF65-F5344CB8AC3E}">
        <p14:creationId xmlns:p14="http://schemas.microsoft.com/office/powerpoint/2010/main" val="1675280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6E242-7531-C7A4-9735-42CFC165248C}"/>
              </a:ext>
            </a:extLst>
          </p:cNvPr>
          <p:cNvSpPr>
            <a:spLocks noGrp="1"/>
          </p:cNvSpPr>
          <p:nvPr>
            <p:ph type="title"/>
          </p:nvPr>
        </p:nvSpPr>
        <p:spPr>
          <a:xfrm>
            <a:off x="838200" y="365125"/>
            <a:ext cx="10515600" cy="828675"/>
          </a:xfrm>
        </p:spPr>
        <p:txBody>
          <a:bodyPr/>
          <a:lstStyle/>
          <a:p>
            <a:r>
              <a:rPr lang="en-IN" dirty="0">
                <a:latin typeface="Times New Roman" panose="02020603050405020304" pitchFamily="18" charset="0"/>
                <a:cs typeface="Times New Roman" panose="02020603050405020304" pitchFamily="18" charset="0"/>
              </a:rPr>
              <a:t>FUTURE SCOPE:</a:t>
            </a:r>
          </a:p>
        </p:txBody>
      </p:sp>
      <p:pic>
        <p:nvPicPr>
          <p:cNvPr id="4" name="Content Placeholder 3">
            <a:extLst>
              <a:ext uri="{FF2B5EF4-FFF2-40B4-BE49-F238E27FC236}">
                <a16:creationId xmlns:a16="http://schemas.microsoft.com/office/drawing/2014/main" id="{3E6E5A7A-9C56-885E-7A49-6AB7E5C3E33A}"/>
              </a:ext>
            </a:extLst>
          </p:cNvPr>
          <p:cNvPicPr>
            <a:picLocks noGrp="1" noChangeAspect="1"/>
          </p:cNvPicPr>
          <p:nvPr>
            <p:ph idx="1"/>
          </p:nvPr>
        </p:nvPicPr>
        <p:blipFill>
          <a:blip r:embed="rId2"/>
          <a:stretch>
            <a:fillRect/>
          </a:stretch>
        </p:blipFill>
        <p:spPr>
          <a:xfrm>
            <a:off x="1888067" y="1371600"/>
            <a:ext cx="8060266" cy="4805363"/>
          </a:xfrm>
          <a:prstGeom prst="rect">
            <a:avLst/>
          </a:prstGeom>
        </p:spPr>
      </p:pic>
    </p:spTree>
    <p:extLst>
      <p:ext uri="{BB962C8B-B14F-4D97-AF65-F5344CB8AC3E}">
        <p14:creationId xmlns:p14="http://schemas.microsoft.com/office/powerpoint/2010/main" val="254595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0F920D3-ED79-0062-208F-ADD721D17EC6}"/>
              </a:ext>
            </a:extLst>
          </p:cNvPr>
          <p:cNvPicPr>
            <a:picLocks noGrp="1" noChangeAspect="1"/>
          </p:cNvPicPr>
          <p:nvPr>
            <p:ph idx="1"/>
          </p:nvPr>
        </p:nvPicPr>
        <p:blipFill>
          <a:blip r:embed="rId2"/>
          <a:stretch>
            <a:fillRect/>
          </a:stretch>
        </p:blipFill>
        <p:spPr>
          <a:xfrm>
            <a:off x="1176867" y="838200"/>
            <a:ext cx="9651999" cy="5338763"/>
          </a:xfrm>
          <a:prstGeom prst="rect">
            <a:avLst/>
          </a:prstGeom>
        </p:spPr>
      </p:pic>
    </p:spTree>
    <p:extLst>
      <p:ext uri="{BB962C8B-B14F-4D97-AF65-F5344CB8AC3E}">
        <p14:creationId xmlns:p14="http://schemas.microsoft.com/office/powerpoint/2010/main" val="3953386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TotalTime>
  <Words>672</Words>
  <Application>Microsoft Office PowerPoint</Application>
  <PresentationFormat>Widescreen</PresentationFormat>
  <Paragraphs>59</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Times New Roman</vt:lpstr>
      <vt:lpstr>Wingdings</vt:lpstr>
      <vt:lpstr>Office Theme</vt:lpstr>
      <vt:lpstr>SMART ENTRY TAIL GATING  ACCESS SYSTEM   </vt:lpstr>
      <vt:lpstr>CONTENTS:</vt:lpstr>
      <vt:lpstr>INTRODUCTION:</vt:lpstr>
      <vt:lpstr>COMPONENTS USED:</vt:lpstr>
      <vt:lpstr>METHODOLOGY:</vt:lpstr>
      <vt:lpstr>HARDWARE SETUP:</vt:lpstr>
      <vt:lpstr>WORKING:</vt:lpstr>
      <vt:lpstr>PowerPoint Presentation</vt:lpstr>
      <vt:lpstr>PowerPoint Presentation</vt:lpstr>
      <vt:lpstr>PowerPoint Presentation</vt:lpstr>
      <vt:lpstr>SAMPLE IMAGES:</vt:lpstr>
      <vt:lpstr>APPLICATIONS:</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Ashrith Sai Akula</dc:creator>
  <cp:lastModifiedBy>Ashrith Sai Akula</cp:lastModifiedBy>
  <cp:revision>4</cp:revision>
  <dcterms:created xsi:type="dcterms:W3CDTF">2026-03-15T15:19:45Z</dcterms:created>
  <dcterms:modified xsi:type="dcterms:W3CDTF">2026-03-24T02:01:38Z</dcterms:modified>
</cp:coreProperties>
</file>